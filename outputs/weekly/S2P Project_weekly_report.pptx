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109728" cy="39776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234440"/>
            <a:ext cx="685800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800" b="1">
                <a:solidFill>
                  <a:srgbClr val="A5B4FC"/>
                </a:solidFill>
                <a:latin typeface="Aptos"/>
              </a:defRPr>
            </a:pPr>
            <a:r>
              <a:t>WEEKLY PROJECT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783080"/>
            <a:ext cx="8686800" cy="10058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ptos"/>
              </a:defRPr>
            </a:pPr>
            <a:r>
              <a:t>S2P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71800"/>
            <a:ext cx="960120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800" b="0">
                <a:solidFill>
                  <a:srgbClr val="CBD5E1"/>
                </a:solidFill>
                <a:latin typeface="Aptos"/>
              </a:defRPr>
            </a:pPr>
            <a:r>
              <a:t>Project Manager: Aftab Hashambhai  |  Report date: 2026-07-02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023360"/>
            <a:ext cx="2240280" cy="7772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142232"/>
            <a:ext cx="2240280" cy="4114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2300" b="1">
                <a:solidFill>
                  <a:srgbClr val="F59E0B"/>
                </a:solidFill>
                <a:latin typeface="Aptos"/>
              </a:defRPr>
            </a:pPr>
            <a:r>
              <a:t>AMBER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66360"/>
            <a:ext cx="8869680" cy="4114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Aptos"/>
              </a:defRPr>
            </a:pPr>
            <a:r>
              <a:t>This deck explains the calculated RAG status and the actions that should follow from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5029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400" b="1">
                <a:solidFill>
                  <a:srgbClr val="4F46E5"/>
                </a:solidFill>
                <a:latin typeface="Aptos"/>
              </a:defRPr>
            </a:pPr>
            <a:r>
              <a:t>WEEKLY PROJECT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Aptos"/>
              </a:defRPr>
            </a:pPr>
            <a:r>
              <a:t>The project is currently in a AMBER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61288"/>
            <a:ext cx="1078992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Aptos"/>
              </a:defRPr>
            </a:pPr>
            <a:r>
              <a:t>Status is based on the current schedule, milestones, blockers, and project-plan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0879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92608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237744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RAG STATUS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42032"/>
            <a:ext cx="2377440" cy="6400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3800" b="1">
                <a:solidFill>
                  <a:srgbClr val="F59E0B"/>
                </a:solidFill>
                <a:latin typeface="Aptos"/>
              </a:defRPr>
            </a:pPr>
            <a:r>
              <a:t>AMBER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237744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800" b="1">
                <a:solidFill>
                  <a:srgbClr val="1E293B"/>
                </a:solidFill>
                <a:latin typeface="Aptos"/>
              </a:defRPr>
            </a:pPr>
            <a:r>
              <a:t>Calculated score: 70.0%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2377440" cy="1417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600" b="0">
                <a:solidFill>
                  <a:srgbClr val="1E293B"/>
                </a:solidFill>
                <a:latin typeface="Aptos"/>
              </a:defRPr>
            </a:pPr>
            <a:r>
              <a:t>The S2P Project is currently at 71% completion with 28 overdue tasks and 8 overdue milestones. The project is in the Configuration and…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1874519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2103119"/>
            <a:ext cx="1874519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Overall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2624327"/>
            <a:ext cx="1874519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Aptos"/>
              </a:defRPr>
            </a:pPr>
            <a:r>
              <a:t>71.0%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8231" y="1874519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11111" y="2103119"/>
            <a:ext cx="1874519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Timeline elapsed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1" y="2624327"/>
            <a:ext cx="1874519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Aptos"/>
              </a:defRPr>
            </a:pPr>
            <a:r>
              <a:t>56.9%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0263" y="1874519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3" y="2103119"/>
            <a:ext cx="1874519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Schedule slippage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3" y="2624327"/>
            <a:ext cx="1874519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Aptos"/>
              </a:defRPr>
            </a:pPr>
            <a:r>
              <a:t>-14.1%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86200" y="3959352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9080" y="4187952"/>
            <a:ext cx="1874519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Active blockers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4709160"/>
            <a:ext cx="1874519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28231" y="3959352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11111" y="4187952"/>
            <a:ext cx="1874519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Overdue milestones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11111" y="4709160"/>
            <a:ext cx="1874519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3" y="3959352"/>
            <a:ext cx="22402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187952"/>
            <a:ext cx="1874519" cy="3657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Project stage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709160"/>
            <a:ext cx="1874519" cy="59436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600" b="1">
                <a:solidFill>
                  <a:srgbClr val="1E293B"/>
                </a:solidFill>
                <a:latin typeface="Aptos"/>
              </a:defRPr>
            </a:pPr>
            <a:r>
              <a:t>Configuration and Build phase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73952"/>
            <a:ext cx="7772400" cy="201168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ptos"/>
              </a:defRPr>
            </a:pPr>
            <a:r>
              <a:t>Zycus Professional Services PMO | Weekly reporting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73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>
              <a:defRPr sz="1200" b="0">
                <a:solidFill>
                  <a:srgbClr val="64748B"/>
                </a:solidFill>
                <a:latin typeface="Aptos"/>
              </a:defRPr>
            </a:pPr>
            <a: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5029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400" b="1">
                <a:solidFill>
                  <a:srgbClr val="4F46E5"/>
                </a:solidFill>
                <a:latin typeface="Aptos"/>
              </a:defRPr>
            </a:pPr>
            <a:r>
              <a:t>WEEKLY PROJECT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Aptos"/>
              </a:defRPr>
            </a:pPr>
            <a:r>
              <a:t>Why this status was assigned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61288"/>
            <a:ext cx="1078992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Aptos"/>
              </a:defRPr>
            </a:pPr>
            <a:r>
              <a:t>Plain-English reasoning based on schedule, milestones, blockers, and available project-plan signals.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0879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25780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48056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Aptos"/>
              </a:defRPr>
            </a:pPr>
            <a:r>
              <a:t>STATUS EXPLANATION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4572000" cy="29718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800" b="0">
                <a:solidFill>
                  <a:srgbClr val="1E293B"/>
                </a:solidFill>
                <a:latin typeface="Aptos"/>
              </a:defRPr>
            </a:pPr>
            <a:r>
              <a:t>The calculated RAG status is Amber. This status is based on the following metrics: - 28 overdue tasks and 8 overdue milestones indicate a significant delay in project completion. - 31 blockers and 25 health points suggest high risk of project failure. - The project is 1.25x SPI, indicating a moderate risk level. - The project is 56.95% of the time elapsed, indicating a slight delay. - The project is 71% complete, indicating a need for immediate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76672" cy="416052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48840"/>
            <a:ext cx="438912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Aptos"/>
              </a:defRPr>
            </a:pPr>
            <a:r>
              <a:t>WHAT THIS MEANS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109728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2100" b="1">
                <a:solidFill>
                  <a:srgbClr val="1E293B"/>
                </a:solidFill>
                <a:latin typeface="Aptos"/>
              </a:defRPr>
            </a:pPr>
            <a:r>
              <a:t>Assign owners and due dates for overdue milestones and open dependencies.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4343400"/>
            <a:ext cx="4572000" cy="7772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700" b="0">
                <a:solidFill>
                  <a:srgbClr val="1E293B"/>
                </a:solidFill>
                <a:latin typeface="Aptos"/>
              </a:defRPr>
            </a:pPr>
            <a:r>
              <a:t>Use the next weekly review to confirm ownership, unblock decisions, and recovery dates.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7772400" cy="201168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ptos"/>
              </a:defRPr>
            </a:pPr>
            <a:r>
              <a:t>Zycus Professional Services PMO | Weekly reporting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73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>
              <a:defRPr sz="1200" b="0">
                <a:solidFill>
                  <a:srgbClr val="64748B"/>
                </a:solidFill>
                <a:latin typeface="Aptos"/>
              </a:defRPr>
            </a:pPr>
            <a: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502920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400" b="1">
                <a:solidFill>
                  <a:srgbClr val="4F46E5"/>
                </a:solidFill>
                <a:latin typeface="Aptos"/>
              </a:defRPr>
            </a:pPr>
            <a:r>
              <a:t>WEEKLY PROJECT HEALTH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789920" cy="5029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Aptos"/>
              </a:defRPr>
            </a:pPr>
            <a:r>
              <a:t>Risk drivers and recommended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61288"/>
            <a:ext cx="1078992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Aptos"/>
              </a:defRPr>
            </a:pPr>
            <a:r>
              <a:t>Priorities for the next reporting cycle, with assumptions called out explicitly.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72768"/>
            <a:ext cx="10908792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257800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48056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  <a:latin typeface="Aptos"/>
              </a:defRPr>
            </a:pPr>
            <a:r>
              <a:t>TOP RISK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0" cy="27432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• Blocker: Configuration and Build phase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• Blocker: Functional Confuguration on Staging System/ Setup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• Blocker: Update configurations based as per IAD (Solution Design) using agreed Commodity, Division Tree &amp; Project Stages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• Overdue milestone: Configuration and Build phase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• Overdue milestone: Functional Confuguration on Staging System/ Setup</a:t>
            </a:r>
          </a:p>
          <a:p>
            <a:pPr>
              <a:spcAft>
                <a:spcPts val="1000"/>
              </a:spcAft>
              <a:defRPr sz="1800">
                <a:solidFill>
                  <a:srgbClr val="1E293B"/>
                </a:solidFill>
                <a:latin typeface="Aptos"/>
              </a:defRPr>
            </a:pPr>
            <a:r>
              <a:t>• Overdue milestone: Production &amp; Cutover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76672" cy="4160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148840"/>
            <a:ext cx="4572000" cy="32004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4F46E5"/>
                </a:solidFill>
                <a:latin typeface="Aptos"/>
              </a:defRPr>
            </a:pPr>
            <a:r>
              <a:t>RECOMMENDED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51760"/>
            <a:ext cx="4572000" cy="23317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Assign owners and due dates for overdue milestones and open dependencies.</a:t>
            </a:r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Hold a working session to unblock the highest-priority delivery risks.</a:t>
            </a:r>
          </a:p>
          <a:p>
            <a:pPr>
              <a:spcAft>
                <a:spcPts val="1000"/>
              </a:spcAft>
              <a:defRPr sz="1700">
                <a:solidFill>
                  <a:srgbClr val="1E293B"/>
                </a:solidFill>
                <a:latin typeface="Aptos"/>
              </a:defRPr>
            </a:pPr>
            <a:r>
              <a:t>• Review resource coverage and validate recovery dates before the next weekly update.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074920"/>
            <a:ext cx="4389120" cy="27432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500" b="1">
                <a:solidFill>
                  <a:srgbClr val="64748B"/>
                </a:solidFill>
                <a:latin typeface="Aptos"/>
              </a:defRPr>
            </a:pPr>
            <a:r>
              <a:t>Data quality and assumptions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5394960"/>
            <a:ext cx="4572000" cy="457200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400" b="0">
                <a:solidFill>
                  <a:srgbClr val="1E293B"/>
                </a:solidFill>
                <a:latin typeface="Aptos"/>
              </a:defRPr>
            </a:pPr>
            <a:r>
              <a:t>The project data quality notes indicate that the summary sheet cells for 'Target Start Date',…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7772400" cy="201168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ptos"/>
              </a:defRPr>
            </a:pPr>
            <a:r>
              <a:t>Zycus Professional Services PMO | Weekly reporting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73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27432" bIns="27432" anchor="t">
            <a:spAutoFit/>
          </a:bodyPr>
          <a:lstStyle/>
          <a:p>
            <a:pPr algn="r">
              <a:defRPr sz="1200" b="0">
                <a:solidFill>
                  <a:srgbClr val="64748B"/>
                </a:solidFill>
                <a:latin typeface="Aptos"/>
              </a:defRPr>
            </a:pPr>
            <a: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