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5ae290370d494a" /><Relationship Type="http://schemas.openxmlformats.org/officeDocument/2006/relationships/extended-properties" Target="/docProps/app.xml" Id="Rf8e50ec25859464b" /><Relationship Type="http://schemas.openxmlformats.org/officeDocument/2006/relationships/officeDocument" Target="/ppt/presentation.xml" Id="R0c090a295ba445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bf61ae94db48e8"/>
  </p:sldMasterIdLst>
  <p:notesMasterIdLst>
    <p:notesMasterId xmlns:r="http://schemas.openxmlformats.org/officeDocument/2006/relationships" r:id="R061fbeca384a4cd2"/>
  </p:notesMasterIdLst>
  <p:sldIdLst>
    <p:sldId xmlns:r="http://schemas.openxmlformats.org/officeDocument/2006/relationships" id="256" r:id="R016ad9de8a324615"/>
    <p:sldId xmlns:r="http://schemas.openxmlformats.org/officeDocument/2006/relationships" id="257" r:id="Rd2018af8154d4dbb"/>
    <p:sldId xmlns:r="http://schemas.openxmlformats.org/officeDocument/2006/relationships" id="258" r:id="R5631b4c0a3d040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a6dd68fab041cd" /><Relationship Type="http://schemas.openxmlformats.org/officeDocument/2006/relationships/slideMaster" Target="/ppt/slideMasters/slideMaster1.xml" Id="R4fbf61ae94db48e8" /><Relationship Type="http://schemas.openxmlformats.org/officeDocument/2006/relationships/notesMaster" Target="/ppt/notesMasters/notesMaster1.xml" Id="R061fbeca384a4cd2" /><Relationship Type="http://schemas.openxmlformats.org/officeDocument/2006/relationships/presProps" Target="/ppt/presProps.xml" Id="R176bccaa338145ba" /><Relationship Type="http://schemas.openxmlformats.org/officeDocument/2006/relationships/tableStyles" Target="/ppt/tableStyles.xml" Id="R15a27966f3bf4d8e" /><Relationship Type="http://schemas.openxmlformats.org/officeDocument/2006/relationships/slide" Target="/ppt/slides/slide1.xml" Id="R016ad9de8a324615" /><Relationship Type="http://schemas.openxmlformats.org/officeDocument/2006/relationships/slide" Target="/ppt/slides/slide2.xml" Id="Rd2018af8154d4dbb" /><Relationship Type="http://schemas.openxmlformats.org/officeDocument/2006/relationships/slide" Target="/ppt/slides/slide3.xml" Id="R5631b4c0a3d040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af573c242140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8786680093400e" /><Relationship Type="http://schemas.openxmlformats.org/officeDocument/2006/relationships/notesMaster" Target="/ppt/notesMasters/notesMaster1.xml" Id="Rc3f75b40f33942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daaaa9df6e461a" /><Relationship Type="http://schemas.openxmlformats.org/officeDocument/2006/relationships/notesMaster" Target="/ppt/notesMasters/notesMaster1.xml" Id="Rf7588e31281c4b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fb2c345dcd46c9" /><Relationship Type="http://schemas.openxmlformats.org/officeDocument/2006/relationships/notesMaster" Target="/ppt/notesMasters/notesMaster1.xml" Id="Rd5e9bb1ab80041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e0b432cd64d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145fa6d80a453f" /><Relationship Type="http://schemas.openxmlformats.org/officeDocument/2006/relationships/slideLayout" Target="/ppt/slideLayouts/slideLayout1.xml" Id="R160e894053654a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0e894053654a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8231c8dcb438d" /><Relationship Type="http://schemas.openxmlformats.org/officeDocument/2006/relationships/notesSlide" Target="/ppt/notesSlides/notesSlide1.xml" Id="Ra154c914df224c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65bf91b6947fa" /><Relationship Type="http://schemas.openxmlformats.org/officeDocument/2006/relationships/notesSlide" Target="/ppt/notesSlides/notesSlide2.xml" Id="R48acbd8f289e45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0163a0c15498d" /><Relationship Type="http://schemas.openxmlformats.org/officeDocument/2006/relationships/notesSlide" Target="/ppt/notesSlides/notesSlide3.xml" Id="R229a4e32b1da44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76DD30E-E1F5-4178-B410-7B7CA76B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WEEKLY PROJECT HEALTH</a:t>
            </a:r>
          </a:p>
        </p:txBody>
      </p:sp>
      <p:sp>
        <p:nvSpPr>
          <p:cNvPr id="2" name="cover-project">
            <a:extLst xmlns:a="http://schemas.openxmlformats.org/drawingml/2006/main">
              <a:ext uri="{FF2B5EF4-FFF2-40B4-BE49-F238E27FC236}">
                <a16:creationId xmlns:a16="http://schemas.microsoft.com/office/drawing/2014/main" id="{D8661971-66B4-4FC7-9FA9-EFDDD8B6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E293B"/>
                </a:solidFill>
              </a:defRPr>
            </a:pPr>
            <a:r>
              <a:rPr sz="3900" b="1">
                <a:solidFill>
                  <a:srgbClr val="1E293B"/>
                </a:solidFill>
              </a:rPr>
              <a:t>S2P Project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12DE5283-274A-48B4-81B3-6DC9AFDE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Project manager: Aftab Hashambhai  •  Report date: 2026-07-02</a:t>
            </a:r>
          </a:p>
        </p:txBody>
      </p:sp>
      <p:sp>
        <p:nvSpPr>
          <p:cNvPr id="4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D87030BF-BB40-46CD-944B-51345487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571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tatus-text">
            <a:extLst xmlns:a="http://schemas.openxmlformats.org/drawingml/2006/main">
              <a:ext uri="{FF2B5EF4-FFF2-40B4-BE49-F238E27FC236}">
                <a16:creationId xmlns:a16="http://schemas.microsoft.com/office/drawing/2014/main" id="{BC91465E-B169-4649-A989-7070A76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AMBER STATUS</a:t>
            </a:r>
          </a:p>
        </p:txBody>
      </p:sp>
      <p:sp>
        <p:nvSpPr>
          <p:cNvPr id="6" name="cover-takeaway">
            <a:extLst xmlns:a="http://schemas.openxmlformats.org/drawingml/2006/main">
              <a:ext uri="{FF2B5EF4-FFF2-40B4-BE49-F238E27FC236}">
                <a16:creationId xmlns:a16="http://schemas.microsoft.com/office/drawing/2014/main" id="{0CBAB029-B28E-4FDB-B435-1935B147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E293B"/>
                </a:solidFill>
              </a:defRPr>
            </a:pPr>
            <a:r>
              <a:rPr sz="2100" b="1">
                <a:solidFill>
                  <a:srgbClr val="1E293B"/>
                </a:solidFill>
              </a:rPr>
              <a:t>The project is 14.1% ahead of plan, but open delivery risks still require attention.</a:t>
            </a:r>
          </a:p>
        </p:txBody>
      </p:sp>
      <p:sp>
        <p:nvSpPr>
          <p:cNvPr id="7" name="cover-stage">
            <a:extLst xmlns:a="http://schemas.openxmlformats.org/drawingml/2006/main">
              <a:ext uri="{FF2B5EF4-FFF2-40B4-BE49-F238E27FC236}">
                <a16:creationId xmlns:a16="http://schemas.microsoft.com/office/drawing/2014/main" id="{7D60E962-2B74-4BD8-9752-7B1531D4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Current stage: Configuration and Build phase</a:t>
            </a:r>
          </a:p>
        </p:txBody>
      </p:sp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3CAE089-E584-4D8F-8CAB-349F1767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5474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16075B8-DDF0-4CC3-A53D-4A4E0F68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F46E5"/>
                </a:solidFill>
              </a:defRPr>
            </a:pPr>
            <a:r>
              <a:rPr sz="1050" b="1">
                <a:solidFill>
                  <a:srgbClr val="4F46E5"/>
                </a:solidFill>
              </a:rPr>
              <a:t>WEEKLY PROJECT HEALTH REPORT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92E539-7B3A-4586-8C85-0A4B20E7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E293B"/>
                </a:solidFill>
              </a:defRPr>
            </a:pPr>
            <a:r>
              <a:rPr sz="2850" b="1">
                <a:solidFill>
                  <a:srgbClr val="1E293B"/>
                </a:solidFill>
              </a:rPr>
              <a:t>Delivery risks need active management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DC7F937-E730-4612-B35E-CCDBD40D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The RAG status is based on project-plan progress, schedule, milestones, and blockers.</a:t>
            </a:r>
          </a:p>
        </p:txBody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F7C27458-3160-48BA-8FB6-07869E35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E4A839A-8DE4-4036-9102-73FED90C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Prepared from the current project plan | 2 / 3</a:t>
            </a:r>
          </a:p>
        </p:txBody>
      </p:sp>
      <p:sp>
        <p:nvSpPr>
          <p:cNvPr id="6" name="metric-Overall progress">
            <a:extLst xmlns:a="http://schemas.openxmlformats.org/drawingml/2006/main">
              <a:ext uri="{FF2B5EF4-FFF2-40B4-BE49-F238E27FC236}">
                <a16:creationId xmlns:a16="http://schemas.microsoft.com/office/drawing/2014/main" id="{75885666-34DA-4B63-B504-155979AF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3431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metric-label-Overall progress">
            <a:extLst xmlns:a="http://schemas.openxmlformats.org/drawingml/2006/main">
              <a:ext uri="{FF2B5EF4-FFF2-40B4-BE49-F238E27FC236}">
                <a16:creationId xmlns:a16="http://schemas.microsoft.com/office/drawing/2014/main" id="{9D1F7869-5879-40C1-AB4D-6B41A899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OVERALL PROGRESS</a:t>
            </a:r>
          </a:p>
        </p:txBody>
      </p:sp>
      <p:sp>
        <p:nvSpPr>
          <p:cNvPr id="8" name="metric-value-Overall progress">
            <a:extLst xmlns:a="http://schemas.openxmlformats.org/drawingml/2006/main">
              <a:ext uri="{FF2B5EF4-FFF2-40B4-BE49-F238E27FC236}">
                <a16:creationId xmlns:a16="http://schemas.microsoft.com/office/drawing/2014/main" id="{927AE1F3-AE43-4021-8088-DAD940F7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293B"/>
                </a:solidFill>
              </a:defRPr>
            </a:pPr>
            <a:r>
              <a:rPr sz="2250" b="1">
                <a:solidFill>
                  <a:srgbClr val="1E293B"/>
                </a:solidFill>
              </a:rPr>
              <a:t>71.0%</a:t>
            </a:r>
          </a:p>
        </p:txBody>
      </p:sp>
      <p:sp>
        <p:nvSpPr>
          <p:cNvPr id="9" name="metric-Timeline elapsed">
            <a:extLst xmlns:a="http://schemas.openxmlformats.org/drawingml/2006/main">
              <a:ext uri="{FF2B5EF4-FFF2-40B4-BE49-F238E27FC236}">
                <a16:creationId xmlns:a16="http://schemas.microsoft.com/office/drawing/2014/main" id="{2C6E40E8-1A0E-4496-9D63-DEDAA60D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62200"/>
            <a:ext cx="23431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metric-label-Timeline elapsed">
            <a:extLst xmlns:a="http://schemas.openxmlformats.org/drawingml/2006/main">
              <a:ext uri="{FF2B5EF4-FFF2-40B4-BE49-F238E27FC236}">
                <a16:creationId xmlns:a16="http://schemas.microsoft.com/office/drawing/2014/main" id="{697645F9-7E87-4754-ACDD-83E7A042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9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TIMELINE ELAPSED</a:t>
            </a:r>
          </a:p>
        </p:txBody>
      </p:sp>
      <p:sp>
        <p:nvSpPr>
          <p:cNvPr id="11" name="metric-value-Timeline elapsed">
            <a:extLst xmlns:a="http://schemas.openxmlformats.org/drawingml/2006/main">
              <a:ext uri="{FF2B5EF4-FFF2-40B4-BE49-F238E27FC236}">
                <a16:creationId xmlns:a16="http://schemas.microsoft.com/office/drawing/2014/main" id="{D17FB99B-BB25-40AA-A010-2B7628F0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908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293B"/>
                </a:solidFill>
              </a:defRPr>
            </a:pPr>
            <a:r>
              <a:rPr sz="2250" b="1">
                <a:solidFill>
                  <a:srgbClr val="1E293B"/>
                </a:solidFill>
              </a:rPr>
              <a:t>56.9%</a:t>
            </a:r>
          </a:p>
        </p:txBody>
      </p:sp>
      <p:sp>
        <p:nvSpPr>
          <p:cNvPr id="12" name="metric-Schedule variance">
            <a:extLst xmlns:a="http://schemas.openxmlformats.org/drawingml/2006/main">
              <a:ext uri="{FF2B5EF4-FFF2-40B4-BE49-F238E27FC236}">
                <a16:creationId xmlns:a16="http://schemas.microsoft.com/office/drawing/2014/main" id="{FC213EB1-68C2-4D01-BF0D-2E35519E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62200"/>
            <a:ext cx="23431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metric-label-Schedule variance">
            <a:extLst xmlns:a="http://schemas.openxmlformats.org/drawingml/2006/main">
              <a:ext uri="{FF2B5EF4-FFF2-40B4-BE49-F238E27FC236}">
                <a16:creationId xmlns:a16="http://schemas.microsoft.com/office/drawing/2014/main" id="{07D7B382-F38E-418F-9169-7592BD4F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9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SCHEDULE VARIANCE</a:t>
            </a:r>
          </a:p>
        </p:txBody>
      </p:sp>
      <p:sp>
        <p:nvSpPr>
          <p:cNvPr id="14" name="metric-value-Schedule variance">
            <a:extLst xmlns:a="http://schemas.openxmlformats.org/drawingml/2006/main">
              <a:ext uri="{FF2B5EF4-FFF2-40B4-BE49-F238E27FC236}">
                <a16:creationId xmlns:a16="http://schemas.microsoft.com/office/drawing/2014/main" id="{D8A696DA-678F-4696-8045-90E7E36F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908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7706"/>
                </a:solidFill>
              </a:defRPr>
            </a:pPr>
            <a:r>
              <a:rPr sz="2250" b="1">
                <a:solidFill>
                  <a:srgbClr val="D97706"/>
                </a:solidFill>
              </a:rPr>
              <a:t>-14.1%</a:t>
            </a:r>
          </a:p>
        </p:txBody>
      </p:sp>
      <p:sp>
        <p:nvSpPr>
          <p:cNvPr id="15" name="metric-Active blockers">
            <a:extLst xmlns:a="http://schemas.openxmlformats.org/drawingml/2006/main">
              <a:ext uri="{FF2B5EF4-FFF2-40B4-BE49-F238E27FC236}">
                <a16:creationId xmlns:a16="http://schemas.microsoft.com/office/drawing/2014/main" id="{D448D174-4F1B-4FEF-B24E-2FE35D66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3431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metric-label-Active blockers">
            <a:extLst xmlns:a="http://schemas.openxmlformats.org/drawingml/2006/main">
              <a:ext uri="{FF2B5EF4-FFF2-40B4-BE49-F238E27FC236}">
                <a16:creationId xmlns:a16="http://schemas.microsoft.com/office/drawing/2014/main" id="{E881F10E-0758-4F86-8C46-A3B4669D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ACTIVE BLOCKERS</a:t>
            </a:r>
          </a:p>
        </p:txBody>
      </p:sp>
      <p:sp>
        <p:nvSpPr>
          <p:cNvPr id="17" name="metric-value-Active blockers">
            <a:extLst xmlns:a="http://schemas.openxmlformats.org/drawingml/2006/main">
              <a:ext uri="{FF2B5EF4-FFF2-40B4-BE49-F238E27FC236}">
                <a16:creationId xmlns:a16="http://schemas.microsoft.com/office/drawing/2014/main" id="{150F89BA-4950-4E1A-9963-8C0676AE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7706"/>
                </a:solidFill>
              </a:defRPr>
            </a:pPr>
            <a:r>
              <a:rPr sz="2250" b="1">
                <a:solidFill>
                  <a:srgbClr val="D97706"/>
                </a:solidFill>
              </a:rPr>
              <a:t>31</a:t>
            </a:r>
          </a:p>
        </p:txBody>
      </p:sp>
      <p:sp>
        <p:nvSpPr>
          <p:cNvPr id="18" name="risk-label-0">
            <a:extLst xmlns:a="http://schemas.openxmlformats.org/drawingml/2006/main">
              <a:ext uri="{FF2B5EF4-FFF2-40B4-BE49-F238E27FC236}">
                <a16:creationId xmlns:a16="http://schemas.microsoft.com/office/drawing/2014/main" id="{DB630BF2-9AAA-421C-907B-4C744321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Schedule:</a:t>
            </a:r>
          </a:p>
        </p:txBody>
      </p:sp>
      <p:sp>
        <p:nvSpPr>
          <p:cNvPr id="19" name="risk-text-0">
            <a:extLst xmlns:a="http://schemas.openxmlformats.org/drawingml/2006/main">
              <a:ext uri="{FF2B5EF4-FFF2-40B4-BE49-F238E27FC236}">
                <a16:creationId xmlns:a16="http://schemas.microsoft.com/office/drawing/2014/main" id="{4433A998-1B47-41BB-A7E1-9BE1DD91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481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71.0% complete vs 56.9% elapsed — 14.1% ahead of the planned pace.</a:t>
            </a:r>
          </a:p>
        </p:txBody>
      </p:sp>
      <p:sp>
        <p:nvSpPr>
          <p:cNvPr id="20" name="risk-label-1">
            <a:extLst xmlns:a="http://schemas.openxmlformats.org/drawingml/2006/main">
              <a:ext uri="{FF2B5EF4-FFF2-40B4-BE49-F238E27FC236}">
                <a16:creationId xmlns:a16="http://schemas.microsoft.com/office/drawing/2014/main" id="{2AFEDE56-7ACE-476C-A76D-2CE2B082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Blockers:</a:t>
            </a:r>
          </a:p>
        </p:txBody>
      </p:sp>
      <p:sp>
        <p:nvSpPr>
          <p:cNvPr id="21" name="risk-text-1">
            <a:extLst xmlns:a="http://schemas.openxmlformats.org/drawingml/2006/main">
              <a:ext uri="{FF2B5EF4-FFF2-40B4-BE49-F238E27FC236}">
                <a16:creationId xmlns:a16="http://schemas.microsoft.com/office/drawing/2014/main" id="{EA24D586-CF1C-438D-9365-F45CB6A3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31 active blockers, led by Configuration and Build phase and Functional Confuguration on Staging System/ Setup.</a:t>
            </a:r>
          </a:p>
        </p:txBody>
      </p:sp>
      <p:sp>
        <p:nvSpPr>
          <p:cNvPr id="22" name="risk-label-2">
            <a:extLst xmlns:a="http://schemas.openxmlformats.org/drawingml/2006/main">
              <a:ext uri="{FF2B5EF4-FFF2-40B4-BE49-F238E27FC236}">
                <a16:creationId xmlns:a16="http://schemas.microsoft.com/office/drawing/2014/main" id="{A25F4671-ACB9-4214-80DF-B32FB8E4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Milestones:</a:t>
            </a:r>
          </a:p>
        </p:txBody>
      </p:sp>
      <p:sp>
        <p:nvSpPr>
          <p:cNvPr id="23" name="risk-text-2">
            <a:extLst xmlns:a="http://schemas.openxmlformats.org/drawingml/2006/main">
              <a:ext uri="{FF2B5EF4-FFF2-40B4-BE49-F238E27FC236}">
                <a16:creationId xmlns:a16="http://schemas.microsoft.com/office/drawing/2014/main" id="{7AA75507-15AB-4FF8-9DB9-3A4592F6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292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8 overdue milestones, including Configuration and Build phase and Functional Confuguration on Staging System/ Setup.</a:t>
            </a:r>
          </a:p>
        </p:txBody>
      </p:sp>
    </p:spTree>
    <p:extLst>
      <p:ext uri="{BB962C8B-B14F-4D97-AF65-F5344CB8AC3E}">
        <p14:creationId xmlns:p14="http://schemas.microsoft.com/office/powerpoint/2010/main" val="118059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ACF09B3-EBE2-4001-B5A8-13381A1C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F46E5"/>
                </a:solidFill>
              </a:defRPr>
            </a:pPr>
            <a:r>
              <a:rPr sz="1050" b="1">
                <a:solidFill>
                  <a:srgbClr val="4F46E5"/>
                </a:solidFill>
              </a:rPr>
              <a:t>WEEKLY PROJECT HEALTH REPORT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DE41EC-D246-4A09-B3F1-C0BF4D11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E293B"/>
                </a:solidFill>
              </a:defRPr>
            </a:pPr>
            <a:r>
              <a:rPr sz="2850" b="1">
                <a:solidFill>
                  <a:srgbClr val="1E293B"/>
                </a:solidFill>
              </a:rPr>
              <a:t>Actions to take before the next weekly update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C0F8693-847F-4BA5-A4D0-778A6F5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Focus the delivery discussion on ownership, unblock decisions, and recovery dates.</a:t>
            </a:r>
          </a:p>
        </p:txBody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F588822C-50BF-48C8-A541-A6CB7E58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9E35E91-34E2-4D88-8367-58473B6A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Prepared from the current project plan | 3 / 3</a:t>
            </a:r>
          </a:p>
        </p:txBody>
      </p:sp>
      <p:sp>
        <p:nvSpPr>
          <p:cNvPr id="6" name="action-number-0">
            <a:extLst xmlns:a="http://schemas.openxmlformats.org/drawingml/2006/main">
              <a:ext uri="{FF2B5EF4-FFF2-40B4-BE49-F238E27FC236}">
                <a16:creationId xmlns:a16="http://schemas.microsoft.com/office/drawing/2014/main" id="{D5C49889-20AA-4D4A-B283-C89FB98A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781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tion-number-text-0">
            <a:extLst xmlns:a="http://schemas.openxmlformats.org/drawingml/2006/main">
              <a:ext uri="{FF2B5EF4-FFF2-40B4-BE49-F238E27FC236}">
                <a16:creationId xmlns:a16="http://schemas.microsoft.com/office/drawing/2014/main" id="{020168FA-2661-4C78-A35B-DC556268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1</a:t>
            </a:r>
          </a:p>
        </p:txBody>
      </p:sp>
      <p:sp>
        <p:nvSpPr>
          <p:cNvPr id="8" name="action-text-0">
            <a:extLst xmlns:a="http://schemas.openxmlformats.org/drawingml/2006/main">
              <a:ext uri="{FF2B5EF4-FFF2-40B4-BE49-F238E27FC236}">
                <a16:creationId xmlns:a16="http://schemas.microsoft.com/office/drawing/2014/main" id="{9392AF5A-888A-4C3A-AC0B-4EC4E2D9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717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E293B"/>
                </a:solidFill>
              </a:defRPr>
            </a:pPr>
            <a:r>
              <a:rPr sz="1650">
                <a:solidFill>
                  <a:srgbClr val="1E293B"/>
                </a:solidFill>
              </a:rPr>
              <a:t>Assign owners and dates for Configuration and Build phase and its open dependencies.</a:t>
            </a:r>
          </a:p>
        </p:txBody>
      </p:sp>
      <p:sp>
        <p:nvSpPr>
          <p:cNvPr id="9" name="action-number-1">
            <a:extLst xmlns:a="http://schemas.openxmlformats.org/drawingml/2006/main">
              <a:ext uri="{FF2B5EF4-FFF2-40B4-BE49-F238E27FC236}">
                <a16:creationId xmlns:a16="http://schemas.microsoft.com/office/drawing/2014/main" id="{4FB19C6F-2E9D-4014-8553-4EB2A60D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81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ction-number-text-1">
            <a:extLst xmlns:a="http://schemas.openxmlformats.org/drawingml/2006/main">
              <a:ext uri="{FF2B5EF4-FFF2-40B4-BE49-F238E27FC236}">
                <a16:creationId xmlns:a16="http://schemas.microsoft.com/office/drawing/2014/main" id="{4CDECE1A-C967-481D-8B4B-77727EF7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2</a:t>
            </a:r>
          </a:p>
        </p:txBody>
      </p:sp>
      <p:sp>
        <p:nvSpPr>
          <p:cNvPr id="11" name="action-text-1">
            <a:extLst xmlns:a="http://schemas.openxmlformats.org/drawingml/2006/main">
              <a:ext uri="{FF2B5EF4-FFF2-40B4-BE49-F238E27FC236}">
                <a16:creationId xmlns:a16="http://schemas.microsoft.com/office/drawing/2014/main" id="{7E7F451D-E8E3-45FF-8A3D-36C48816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8137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E293B"/>
                </a:solidFill>
              </a:defRPr>
            </a:pPr>
            <a:r>
              <a:rPr sz="1650">
                <a:solidFill>
                  <a:srgbClr val="1E293B"/>
                </a:solidFill>
              </a:rPr>
              <a:t>Hold a working session to unblock Configuration and Build phase.</a:t>
            </a:r>
          </a:p>
        </p:txBody>
      </p:sp>
      <p:sp>
        <p:nvSpPr>
          <p:cNvPr id="12" name="action-number-2">
            <a:extLst xmlns:a="http://schemas.openxmlformats.org/drawingml/2006/main">
              <a:ext uri="{FF2B5EF4-FFF2-40B4-BE49-F238E27FC236}">
                <a16:creationId xmlns:a16="http://schemas.microsoft.com/office/drawing/2014/main" id="{3379CD4A-9D82-443A-AFFF-3BD37B57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781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tion-number-text-2">
            <a:extLst xmlns:a="http://schemas.openxmlformats.org/drawingml/2006/main">
              <a:ext uri="{FF2B5EF4-FFF2-40B4-BE49-F238E27FC236}">
                <a16:creationId xmlns:a16="http://schemas.microsoft.com/office/drawing/2014/main" id="{8F778D36-E194-48B5-8FF7-10D94044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14" name="action-text-2">
            <a:extLst xmlns:a="http://schemas.openxmlformats.org/drawingml/2006/main">
              <a:ext uri="{FF2B5EF4-FFF2-40B4-BE49-F238E27FC236}">
                <a16:creationId xmlns:a16="http://schemas.microsoft.com/office/drawing/2014/main" id="{CAA22D44-C2A7-4254-8DC6-2A9AE48C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910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E293B"/>
                </a:solidFill>
              </a:defRPr>
            </a:pPr>
            <a:r>
              <a:rPr sz="1650">
                <a:solidFill>
                  <a:srgbClr val="1E293B"/>
                </a:solidFill>
              </a:rPr>
              <a:t>Review resourcing and validate the recovery plan before the next weekly update.</a:t>
            </a:r>
          </a:p>
        </p:txBody>
      </p:sp>
      <p:sp>
        <p:nvSpPr>
          <p:cNvPr id="15" name="data-note-card">
            <a:extLst xmlns:a="http://schemas.openxmlformats.org/drawingml/2006/main">
              <a:ext uri="{FF2B5EF4-FFF2-40B4-BE49-F238E27FC236}">
                <a16:creationId xmlns:a16="http://schemas.microsoft.com/office/drawing/2014/main" id="{055F9BBA-B173-480C-924A-D169F26E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data-note-label">
            <a:extLst xmlns:a="http://schemas.openxmlformats.org/drawingml/2006/main">
              <a:ext uri="{FF2B5EF4-FFF2-40B4-BE49-F238E27FC236}">
                <a16:creationId xmlns:a16="http://schemas.microsoft.com/office/drawing/2014/main" id="{9E9743C3-6728-4BDD-8E2A-51E23C8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Data note</a:t>
            </a:r>
          </a:p>
        </p:txBody>
      </p:sp>
      <p:sp>
        <p:nvSpPr>
          <p:cNvPr id="17" name="data-note-text">
            <a:extLst xmlns:a="http://schemas.openxmlformats.org/drawingml/2006/main">
              <a:ext uri="{FF2B5EF4-FFF2-40B4-BE49-F238E27FC236}">
                <a16:creationId xmlns:a16="http://schemas.microsoft.com/office/drawing/2014/main" id="{6BA029E8-5825-46CC-ABF8-3A49288C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388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6 data-quality note(s) were recorded; formula-based summary fields were treated as unavailable and task-level schedule data was used.</a:t>
            </a:r>
          </a:p>
        </p:txBody>
      </p:sp>
    </p:spTree>
    <p:extLst>
      <p:ext uri="{BB962C8B-B14F-4D97-AF65-F5344CB8AC3E}">
        <p14:creationId xmlns:p14="http://schemas.microsoft.com/office/powerpoint/2010/main" val="743767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2026-07-10T15:52:11.0190000Z</dcterms:created>
  <dcterms:modified xsi:type="dcterms:W3CDTF">2026-07-10T15:52:11.0190000Z</dcterms:modified>
</coreProperties>
</file>