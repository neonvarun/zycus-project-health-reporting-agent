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035075b5e34eaf" /><Relationship Type="http://schemas.openxmlformats.org/officeDocument/2006/relationships/extended-properties" Target="/docProps/app.xml" Id="R61bd3c614d1f4af1" /><Relationship Type="http://schemas.openxmlformats.org/officeDocument/2006/relationships/officeDocument" Target="/ppt/presentation.xml" Id="R6d69ec4983ab45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4494db0a8a4363"/>
  </p:sldMasterIdLst>
  <p:notesMasterIdLst>
    <p:notesMasterId xmlns:r="http://schemas.openxmlformats.org/officeDocument/2006/relationships" r:id="Rc7a9d9dcba5c406d"/>
  </p:notesMasterIdLst>
  <p:sldIdLst>
    <p:sldId xmlns:r="http://schemas.openxmlformats.org/officeDocument/2006/relationships" id="256" r:id="Rc62d063275cb4946"/>
    <p:sldId xmlns:r="http://schemas.openxmlformats.org/officeDocument/2006/relationships" id="257" r:id="Rd9f7c55137434000"/>
    <p:sldId xmlns:r="http://schemas.openxmlformats.org/officeDocument/2006/relationships" id="258" r:id="R2799ef053393414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87f096bd8c42de" /><Relationship Type="http://schemas.openxmlformats.org/officeDocument/2006/relationships/slideMaster" Target="/ppt/slideMasters/slideMaster1.xml" Id="R144494db0a8a4363" /><Relationship Type="http://schemas.openxmlformats.org/officeDocument/2006/relationships/notesMaster" Target="/ppt/notesMasters/notesMaster1.xml" Id="Rc7a9d9dcba5c406d" /><Relationship Type="http://schemas.openxmlformats.org/officeDocument/2006/relationships/presProps" Target="/ppt/presProps.xml" Id="R9ce5395cb18e408c" /><Relationship Type="http://schemas.openxmlformats.org/officeDocument/2006/relationships/tableStyles" Target="/ppt/tableStyles.xml" Id="R8383106e14644a38" /><Relationship Type="http://schemas.openxmlformats.org/officeDocument/2006/relationships/slide" Target="/ppt/slides/slide1.xml" Id="Rc62d063275cb4946" /><Relationship Type="http://schemas.openxmlformats.org/officeDocument/2006/relationships/slide" Target="/ppt/slides/slide2.xml" Id="Rd9f7c55137434000" /><Relationship Type="http://schemas.openxmlformats.org/officeDocument/2006/relationships/slide" Target="/ppt/slides/slide3.xml" Id="R2799ef05339341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51f6d46c5345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11a9af4fc04beb" /><Relationship Type="http://schemas.openxmlformats.org/officeDocument/2006/relationships/notesMaster" Target="/ppt/notesMasters/notesMaster1.xml" Id="R79fe37ff04e945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870c7740004776" /><Relationship Type="http://schemas.openxmlformats.org/officeDocument/2006/relationships/notesMaster" Target="/ppt/notesMasters/notesMaster1.xml" Id="R3b846832eddd45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fd4208d57f4cba" /><Relationship Type="http://schemas.openxmlformats.org/officeDocument/2006/relationships/notesMaster" Target="/ppt/notesMasters/notesMaster1.xml" Id="R24935b0d7a7440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84cc0c50fd40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b03bb8d22e48de" /><Relationship Type="http://schemas.openxmlformats.org/officeDocument/2006/relationships/slideLayout" Target="/ppt/slideLayouts/slideLayout1.xml" Id="R424f1f87a4d848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4f1f87a4d848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5b263b10044bb" /><Relationship Type="http://schemas.openxmlformats.org/officeDocument/2006/relationships/notesSlide" Target="/ppt/notesSlides/notesSlide1.xml" Id="R9f922535953247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141c6780742ac" /><Relationship Type="http://schemas.openxmlformats.org/officeDocument/2006/relationships/notesSlide" Target="/ppt/notesSlides/notesSlide2.xml" Id="Rcd3a55ee01144b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1ce8e92d94d75" /><Relationship Type="http://schemas.openxmlformats.org/officeDocument/2006/relationships/notesSlide" Target="/ppt/notesSlides/notesSlide3.xml" Id="R2cf4cbb62f0a4e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0FDE6BB-AA81-4D94-ACA2-BA701ED5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F46E5"/>
                </a:solidFill>
              </a:defRPr>
            </a:pPr>
            <a:r>
              <a:rPr sz="1200" b="1">
                <a:solidFill>
                  <a:srgbClr val="4F46E5"/>
                </a:solidFill>
              </a:rPr>
              <a:t>WEEKLY PROJECT HEALTH</a:t>
            </a:r>
          </a:p>
        </p:txBody>
      </p:sp>
      <p:sp>
        <p:nvSpPr>
          <p:cNvPr id="2" name="cover-project">
            <a:extLst xmlns:a="http://schemas.openxmlformats.org/drawingml/2006/main">
              <a:ext uri="{FF2B5EF4-FFF2-40B4-BE49-F238E27FC236}">
                <a16:creationId xmlns:a16="http://schemas.microsoft.com/office/drawing/2014/main" id="{57C52557-84D4-4D1A-9298-11F7DECF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85850"/>
            <a:ext cx="809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E293B"/>
                </a:solidFill>
              </a:defRPr>
            </a:pPr>
            <a:r>
              <a:rPr sz="3900" b="1">
                <a:solidFill>
                  <a:srgbClr val="1E293B"/>
                </a:solidFill>
              </a:rPr>
              <a:t>Project Plan B</a:t>
            </a:r>
          </a:p>
        </p:txBody>
      </p:sp>
      <p:sp>
        <p:nvSpPr>
          <p:cNvPr id="3" name="cover-meta">
            <a:extLst xmlns:a="http://schemas.openxmlformats.org/drawingml/2006/main">
              <a:ext uri="{FF2B5EF4-FFF2-40B4-BE49-F238E27FC236}">
                <a16:creationId xmlns:a16="http://schemas.microsoft.com/office/drawing/2014/main" id="{5E06A9A2-D4DE-466D-8A1B-9377D0C7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4748B"/>
                </a:solidFill>
              </a:defRPr>
            </a:pPr>
            <a:r>
              <a:rPr sz="1500">
                <a:solidFill>
                  <a:srgbClr val="64748B"/>
                </a:solidFill>
              </a:rPr>
              <a:t>Project manager: Rajat Bothra  •  Report date: 2026-07-02</a:t>
            </a:r>
          </a:p>
        </p:txBody>
      </p:sp>
      <p:sp>
        <p:nvSpPr>
          <p:cNvPr id="4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5BB4D9B2-2C3A-46D3-B931-2B5E5018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5717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status-text">
            <a:extLst xmlns:a="http://schemas.openxmlformats.org/drawingml/2006/main">
              <a:ext uri="{FF2B5EF4-FFF2-40B4-BE49-F238E27FC236}">
                <a16:creationId xmlns:a16="http://schemas.microsoft.com/office/drawing/2014/main" id="{4C2BB300-1D9B-497E-84E4-5CBA830F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6227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F4444"/>
                </a:solidFill>
              </a:defRPr>
            </a:pPr>
            <a:r>
              <a:rPr sz="1800" b="1">
                <a:solidFill>
                  <a:srgbClr val="EF4444"/>
                </a:solidFill>
              </a:rPr>
              <a:t>RED STATUS</a:t>
            </a:r>
          </a:p>
        </p:txBody>
      </p:sp>
      <p:sp>
        <p:nvSpPr>
          <p:cNvPr id="6" name="cover-takeaway">
            <a:extLst xmlns:a="http://schemas.openxmlformats.org/drawingml/2006/main">
              <a:ext uri="{FF2B5EF4-FFF2-40B4-BE49-F238E27FC236}">
                <a16:creationId xmlns:a16="http://schemas.microsoft.com/office/drawing/2014/main" id="{15386CA1-4CC9-4AEC-B088-9C5554B2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E293B"/>
                </a:solidFill>
              </a:defRPr>
            </a:pPr>
            <a:r>
              <a:rPr sz="2100" b="1">
                <a:solidFill>
                  <a:srgbClr val="1E293B"/>
                </a:solidFill>
              </a:rPr>
              <a:t>The project is 14.8% behind plan: 44.0% complete against 58.8% elapsed schedule.</a:t>
            </a:r>
          </a:p>
        </p:txBody>
      </p:sp>
      <p:sp>
        <p:nvSpPr>
          <p:cNvPr id="7" name="cover-stage">
            <a:extLst xmlns:a="http://schemas.openxmlformats.org/drawingml/2006/main">
              <a:ext uri="{FF2B5EF4-FFF2-40B4-BE49-F238E27FC236}">
                <a16:creationId xmlns:a16="http://schemas.microsoft.com/office/drawing/2014/main" id="{8C9AB06B-3F12-42EF-B080-827F0A9D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Current stage: Training Phase I</a:t>
            </a:r>
          </a:p>
        </p:txBody>
      </p:sp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15FAB8BA-45C4-44C5-B0BC-881B9800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38106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2C91CF1-72B2-48ED-9C35-014CF6EC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F46E5"/>
                </a:solidFill>
              </a:defRPr>
            </a:pPr>
            <a:r>
              <a:rPr sz="1050" b="1">
                <a:solidFill>
                  <a:srgbClr val="4F46E5"/>
                </a:solidFill>
              </a:rPr>
              <a:t>WEEKLY PROJECT HEALTH REPORT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53E5925-235E-45D8-976F-32196522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E293B"/>
                </a:solidFill>
              </a:defRPr>
            </a:pPr>
            <a:r>
              <a:rPr sz="2850" b="1">
                <a:solidFill>
                  <a:srgbClr val="1E293B"/>
                </a:solidFill>
              </a:rPr>
              <a:t>Delivery intervention is required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1E871F5-C3F3-45B3-A67E-975FBD3B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The RAG status is based on project-plan progress, schedule, milestones, and blockers.</a:t>
            </a:r>
          </a:p>
        </p:txBody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CE48F237-CFD1-4DD7-BAB9-2FA17D4F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B06B690D-E537-4A93-8D33-0DDA7F94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Prepared from the current project plan | 2 / 3</a:t>
            </a:r>
          </a:p>
        </p:txBody>
      </p:sp>
      <p:sp>
        <p:nvSpPr>
          <p:cNvPr id="6" name="metric-Overall progress">
            <a:extLst xmlns:a="http://schemas.openxmlformats.org/drawingml/2006/main">
              <a:ext uri="{FF2B5EF4-FFF2-40B4-BE49-F238E27FC236}">
                <a16:creationId xmlns:a16="http://schemas.microsoft.com/office/drawing/2014/main" id="{C8452044-8824-4F53-BAA0-1D81AC32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23431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7" name="metric-label-Overall progress">
            <a:extLst xmlns:a="http://schemas.openxmlformats.org/drawingml/2006/main">
              <a:ext uri="{FF2B5EF4-FFF2-40B4-BE49-F238E27FC236}">
                <a16:creationId xmlns:a16="http://schemas.microsoft.com/office/drawing/2014/main" id="{2FAE9AFD-A502-4C7B-AED4-14C7E79E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OVERALL PROGRESS</a:t>
            </a:r>
          </a:p>
        </p:txBody>
      </p:sp>
      <p:sp>
        <p:nvSpPr>
          <p:cNvPr id="8" name="metric-value-Overall progress">
            <a:extLst xmlns:a="http://schemas.openxmlformats.org/drawingml/2006/main">
              <a:ext uri="{FF2B5EF4-FFF2-40B4-BE49-F238E27FC236}">
                <a16:creationId xmlns:a16="http://schemas.microsoft.com/office/drawing/2014/main" id="{BE3CDA9B-7234-401F-9E0D-578BC2CD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E293B"/>
                </a:solidFill>
              </a:defRPr>
            </a:pPr>
            <a:r>
              <a:rPr sz="2250" b="1">
                <a:solidFill>
                  <a:srgbClr val="1E293B"/>
                </a:solidFill>
              </a:rPr>
              <a:t>44.0%</a:t>
            </a:r>
          </a:p>
        </p:txBody>
      </p:sp>
      <p:sp>
        <p:nvSpPr>
          <p:cNvPr id="9" name="metric-Timeline elapsed">
            <a:extLst xmlns:a="http://schemas.openxmlformats.org/drawingml/2006/main">
              <a:ext uri="{FF2B5EF4-FFF2-40B4-BE49-F238E27FC236}">
                <a16:creationId xmlns:a16="http://schemas.microsoft.com/office/drawing/2014/main" id="{E06F66AD-6F0F-4D80-84C1-8699A9A3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62200"/>
            <a:ext cx="23431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metric-label-Timeline elapsed">
            <a:extLst xmlns:a="http://schemas.openxmlformats.org/drawingml/2006/main">
              <a:ext uri="{FF2B5EF4-FFF2-40B4-BE49-F238E27FC236}">
                <a16:creationId xmlns:a16="http://schemas.microsoft.com/office/drawing/2014/main" id="{2B5E0C94-72D2-496F-84BE-A69C93BC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90800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TIMELINE ELAPSED</a:t>
            </a:r>
          </a:p>
        </p:txBody>
      </p:sp>
      <p:sp>
        <p:nvSpPr>
          <p:cNvPr id="11" name="metric-value-Timeline elapsed">
            <a:extLst xmlns:a="http://schemas.openxmlformats.org/drawingml/2006/main">
              <a:ext uri="{FF2B5EF4-FFF2-40B4-BE49-F238E27FC236}">
                <a16:creationId xmlns:a16="http://schemas.microsoft.com/office/drawing/2014/main" id="{AFC21D90-6F45-4AC4-A9EB-781B38B4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90850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E293B"/>
                </a:solidFill>
              </a:defRPr>
            </a:pPr>
            <a:r>
              <a:rPr sz="2250" b="1">
                <a:solidFill>
                  <a:srgbClr val="1E293B"/>
                </a:solidFill>
              </a:rPr>
              <a:t>58.8%</a:t>
            </a:r>
          </a:p>
        </p:txBody>
      </p:sp>
      <p:sp>
        <p:nvSpPr>
          <p:cNvPr id="12" name="metric-Schedule variance">
            <a:extLst xmlns:a="http://schemas.openxmlformats.org/drawingml/2006/main">
              <a:ext uri="{FF2B5EF4-FFF2-40B4-BE49-F238E27FC236}">
                <a16:creationId xmlns:a16="http://schemas.microsoft.com/office/drawing/2014/main" id="{2C240D76-D96B-445F-B963-477584BF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362200"/>
            <a:ext cx="23431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3" name="metric-label-Schedule variance">
            <a:extLst xmlns:a="http://schemas.openxmlformats.org/drawingml/2006/main">
              <a:ext uri="{FF2B5EF4-FFF2-40B4-BE49-F238E27FC236}">
                <a16:creationId xmlns:a16="http://schemas.microsoft.com/office/drawing/2014/main" id="{49B9326E-E200-429E-8691-E902C946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90800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SCHEDULE VARIANCE</a:t>
            </a:r>
          </a:p>
        </p:txBody>
      </p:sp>
      <p:sp>
        <p:nvSpPr>
          <p:cNvPr id="14" name="metric-value-Schedule variance">
            <a:extLst xmlns:a="http://schemas.openxmlformats.org/drawingml/2006/main">
              <a:ext uri="{FF2B5EF4-FFF2-40B4-BE49-F238E27FC236}">
                <a16:creationId xmlns:a16="http://schemas.microsoft.com/office/drawing/2014/main" id="{F0506409-0F04-450E-9F20-A2D81219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90850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F4444"/>
                </a:solidFill>
              </a:defRPr>
            </a:pPr>
            <a:r>
              <a:rPr sz="2250" b="1">
                <a:solidFill>
                  <a:srgbClr val="EF4444"/>
                </a:solidFill>
              </a:rPr>
              <a:t>+14.8%</a:t>
            </a:r>
          </a:p>
        </p:txBody>
      </p:sp>
      <p:sp>
        <p:nvSpPr>
          <p:cNvPr id="15" name="metric-Active blockers">
            <a:extLst xmlns:a="http://schemas.openxmlformats.org/drawingml/2006/main">
              <a:ext uri="{FF2B5EF4-FFF2-40B4-BE49-F238E27FC236}">
                <a16:creationId xmlns:a16="http://schemas.microsoft.com/office/drawing/2014/main" id="{21B68E5D-F2EE-42C3-B735-14779181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62200"/>
            <a:ext cx="23431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metric-label-Active blockers">
            <a:extLst xmlns:a="http://schemas.openxmlformats.org/drawingml/2006/main">
              <a:ext uri="{FF2B5EF4-FFF2-40B4-BE49-F238E27FC236}">
                <a16:creationId xmlns:a16="http://schemas.microsoft.com/office/drawing/2014/main" id="{87665121-D204-41E9-8535-CAB30B67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90800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ACTIVE BLOCKERS</a:t>
            </a:r>
          </a:p>
        </p:txBody>
      </p:sp>
      <p:sp>
        <p:nvSpPr>
          <p:cNvPr id="17" name="metric-value-Active blockers">
            <a:extLst xmlns:a="http://schemas.openxmlformats.org/drawingml/2006/main">
              <a:ext uri="{FF2B5EF4-FFF2-40B4-BE49-F238E27FC236}">
                <a16:creationId xmlns:a16="http://schemas.microsoft.com/office/drawing/2014/main" id="{D5567E24-6841-40E0-AF8B-C54B166B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90850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F4444"/>
                </a:solidFill>
              </a:defRPr>
            </a:pPr>
            <a:r>
              <a:rPr sz="2250" b="1">
                <a:solidFill>
                  <a:srgbClr val="EF4444"/>
                </a:solidFill>
              </a:rPr>
              <a:t>42</a:t>
            </a:r>
          </a:p>
        </p:txBody>
      </p:sp>
      <p:sp>
        <p:nvSpPr>
          <p:cNvPr id="18" name="risk-label-0">
            <a:extLst xmlns:a="http://schemas.openxmlformats.org/drawingml/2006/main">
              <a:ext uri="{FF2B5EF4-FFF2-40B4-BE49-F238E27FC236}">
                <a16:creationId xmlns:a16="http://schemas.microsoft.com/office/drawing/2014/main" id="{CE43D4F5-7186-4D3F-A299-95300DCE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F4444"/>
                </a:solidFill>
              </a:defRPr>
            </a:pPr>
            <a:r>
              <a:rPr sz="1350" b="1">
                <a:solidFill>
                  <a:srgbClr val="EF4444"/>
                </a:solidFill>
              </a:rPr>
              <a:t>Schedule:</a:t>
            </a:r>
          </a:p>
        </p:txBody>
      </p:sp>
      <p:sp>
        <p:nvSpPr>
          <p:cNvPr id="19" name="risk-text-0">
            <a:extLst xmlns:a="http://schemas.openxmlformats.org/drawingml/2006/main">
              <a:ext uri="{FF2B5EF4-FFF2-40B4-BE49-F238E27FC236}">
                <a16:creationId xmlns:a16="http://schemas.microsoft.com/office/drawing/2014/main" id="{D9555964-DE75-48CF-A755-C720400A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248150"/>
            <a:ext cx="904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E293B"/>
                </a:solidFill>
              </a:defRPr>
            </a:pPr>
            <a:r>
              <a:rPr sz="1350">
                <a:solidFill>
                  <a:srgbClr val="1E293B"/>
                </a:solidFill>
              </a:rPr>
              <a:t>44.0% complete vs 58.8% elapsed — 14.8% behind the planned pace.</a:t>
            </a:r>
          </a:p>
        </p:txBody>
      </p:sp>
      <p:sp>
        <p:nvSpPr>
          <p:cNvPr id="20" name="risk-label-1">
            <a:extLst xmlns:a="http://schemas.openxmlformats.org/drawingml/2006/main">
              <a:ext uri="{FF2B5EF4-FFF2-40B4-BE49-F238E27FC236}">
                <a16:creationId xmlns:a16="http://schemas.microsoft.com/office/drawing/2014/main" id="{146941E3-1818-47B5-865E-429B8032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F4444"/>
                </a:solidFill>
              </a:defRPr>
            </a:pPr>
            <a:r>
              <a:rPr sz="1350" b="1">
                <a:solidFill>
                  <a:srgbClr val="EF4444"/>
                </a:solidFill>
              </a:rPr>
              <a:t>Blockers:</a:t>
            </a:r>
          </a:p>
        </p:txBody>
      </p:sp>
      <p:sp>
        <p:nvSpPr>
          <p:cNvPr id="21" name="risk-text-1">
            <a:extLst xmlns:a="http://schemas.openxmlformats.org/drawingml/2006/main">
              <a:ext uri="{FF2B5EF4-FFF2-40B4-BE49-F238E27FC236}">
                <a16:creationId xmlns:a16="http://schemas.microsoft.com/office/drawing/2014/main" id="{C83AD798-54EA-459D-B5EA-91913C63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838700"/>
            <a:ext cx="904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E293B"/>
                </a:solidFill>
              </a:defRPr>
            </a:pPr>
            <a:r>
              <a:rPr sz="1350">
                <a:solidFill>
                  <a:srgbClr val="1E293B"/>
                </a:solidFill>
              </a:rPr>
              <a:t>42 active blockers, led by Zycus - UniSan S2P Implementation and Training Phase I.</a:t>
            </a:r>
          </a:p>
        </p:txBody>
      </p:sp>
      <p:sp>
        <p:nvSpPr>
          <p:cNvPr id="22" name="risk-label-2">
            <a:extLst xmlns:a="http://schemas.openxmlformats.org/drawingml/2006/main">
              <a:ext uri="{FF2B5EF4-FFF2-40B4-BE49-F238E27FC236}">
                <a16:creationId xmlns:a16="http://schemas.microsoft.com/office/drawing/2014/main" id="{389CF698-A8F5-4D0E-BFF2-2E6DA1D4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F4444"/>
                </a:solidFill>
              </a:defRPr>
            </a:pPr>
            <a:r>
              <a:rPr sz="1350" b="1">
                <a:solidFill>
                  <a:srgbClr val="EF4444"/>
                </a:solidFill>
              </a:rPr>
              <a:t>Milestones:</a:t>
            </a:r>
          </a:p>
        </p:txBody>
      </p:sp>
      <p:sp>
        <p:nvSpPr>
          <p:cNvPr id="23" name="risk-text-2">
            <a:extLst xmlns:a="http://schemas.openxmlformats.org/drawingml/2006/main">
              <a:ext uri="{FF2B5EF4-FFF2-40B4-BE49-F238E27FC236}">
                <a16:creationId xmlns:a16="http://schemas.microsoft.com/office/drawing/2014/main" id="{C20BCDEF-3411-4AC2-9004-BC3E58FC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29250"/>
            <a:ext cx="904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E293B"/>
                </a:solidFill>
              </a:defRPr>
            </a:pPr>
            <a:r>
              <a:rPr sz="1350">
                <a:solidFill>
                  <a:srgbClr val="1E293B"/>
                </a:solidFill>
              </a:rPr>
              <a:t>2 overdue milestones, including Training Phase I and Train The Trainer.</a:t>
            </a:r>
          </a:p>
        </p:txBody>
      </p:sp>
    </p:spTree>
    <p:extLst>
      <p:ext uri="{BB962C8B-B14F-4D97-AF65-F5344CB8AC3E}">
        <p14:creationId xmlns:p14="http://schemas.microsoft.com/office/powerpoint/2010/main" val="19479287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F8550C3-A18C-4534-B455-5F5AF693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F46E5"/>
                </a:solidFill>
              </a:defRPr>
            </a:pPr>
            <a:r>
              <a:rPr sz="1050" b="1">
                <a:solidFill>
                  <a:srgbClr val="4F46E5"/>
                </a:solidFill>
              </a:rPr>
              <a:t>WEEKLY PROJECT HEALTH REPORT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31EEB28-BBDB-4299-9E24-C5567087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E293B"/>
                </a:solidFill>
              </a:defRPr>
            </a:pPr>
            <a:r>
              <a:rPr sz="2850" b="1">
                <a:solidFill>
                  <a:srgbClr val="1E293B"/>
                </a:solidFill>
              </a:rPr>
              <a:t>Actions to take before the next weekly update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932E14E-B6D7-443E-9B8C-749F1FB1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Focus the delivery discussion on ownership, unblock decisions, and recovery dates.</a:t>
            </a:r>
          </a:p>
        </p:txBody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281F420B-59A4-4B1D-A762-76C8A10E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66720244-75F2-4613-9E99-5BE19A03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Prepared from the current project plan | 3 / 3</a:t>
            </a:r>
          </a:p>
        </p:txBody>
      </p:sp>
      <p:sp>
        <p:nvSpPr>
          <p:cNvPr id="6" name="action-number-0">
            <a:extLst xmlns:a="http://schemas.openxmlformats.org/drawingml/2006/main">
              <a:ext uri="{FF2B5EF4-FFF2-40B4-BE49-F238E27FC236}">
                <a16:creationId xmlns:a16="http://schemas.microsoft.com/office/drawing/2014/main" id="{8A8A28EC-A920-45AA-BD37-A8279E23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7810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ction-number-text-0">
            <a:extLst xmlns:a="http://schemas.openxmlformats.org/drawingml/2006/main">
              <a:ext uri="{FF2B5EF4-FFF2-40B4-BE49-F238E27FC236}">
                <a16:creationId xmlns:a16="http://schemas.microsoft.com/office/drawing/2014/main" id="{9C93F0BD-0DC4-4A56-83DD-1FAE567C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781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EF4444"/>
                </a:solidFill>
              </a:defRPr>
            </a:pPr>
            <a:r>
              <a:rPr sz="1950" b="1">
                <a:solidFill>
                  <a:srgbClr val="EF4444"/>
                </a:solidFill>
              </a:rPr>
              <a:t>1</a:t>
            </a:r>
          </a:p>
        </p:txBody>
      </p:sp>
      <p:sp>
        <p:nvSpPr>
          <p:cNvPr id="8" name="action-text-0">
            <a:extLst xmlns:a="http://schemas.openxmlformats.org/drawingml/2006/main">
              <a:ext uri="{FF2B5EF4-FFF2-40B4-BE49-F238E27FC236}">
                <a16:creationId xmlns:a16="http://schemas.microsoft.com/office/drawing/2014/main" id="{BA210D31-ADFC-40FD-BE41-520A2F20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3717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E293B"/>
                </a:solidFill>
              </a:defRPr>
            </a:pPr>
            <a:r>
              <a:rPr sz="1650">
                <a:solidFill>
                  <a:srgbClr val="1E293B"/>
                </a:solidFill>
              </a:rPr>
              <a:t>Escalate Zycus - UniSan S2P Implementation and confirm a named owner, decision, and due date.</a:t>
            </a:r>
          </a:p>
        </p:txBody>
      </p:sp>
      <p:sp>
        <p:nvSpPr>
          <p:cNvPr id="9" name="action-number-1">
            <a:extLst xmlns:a="http://schemas.openxmlformats.org/drawingml/2006/main">
              <a:ext uri="{FF2B5EF4-FFF2-40B4-BE49-F238E27FC236}">
                <a16:creationId xmlns:a16="http://schemas.microsoft.com/office/drawing/2014/main" id="{BB440E88-21CE-4A63-A224-98DEBC29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810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ction-number-text-1">
            <a:extLst xmlns:a="http://schemas.openxmlformats.org/drawingml/2006/main">
              <a:ext uri="{FF2B5EF4-FFF2-40B4-BE49-F238E27FC236}">
                <a16:creationId xmlns:a16="http://schemas.microsoft.com/office/drawing/2014/main" id="{6E4AB80F-877E-4C18-AFA7-77271CC8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781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EF4444"/>
                </a:solidFill>
              </a:defRPr>
            </a:pPr>
            <a:r>
              <a:rPr sz="1950" b="1">
                <a:solidFill>
                  <a:srgbClr val="EF4444"/>
                </a:solidFill>
              </a:rPr>
              <a:t>2</a:t>
            </a:r>
          </a:p>
        </p:txBody>
      </p:sp>
      <p:sp>
        <p:nvSpPr>
          <p:cNvPr id="11" name="action-text-1">
            <a:extLst xmlns:a="http://schemas.openxmlformats.org/drawingml/2006/main">
              <a:ext uri="{FF2B5EF4-FFF2-40B4-BE49-F238E27FC236}">
                <a16:creationId xmlns:a16="http://schemas.microsoft.com/office/drawing/2014/main" id="{8DD28A59-82C6-43D4-8799-FCD2988D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38137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E293B"/>
                </a:solidFill>
              </a:defRPr>
            </a:pPr>
            <a:r>
              <a:rPr sz="1650">
                <a:solidFill>
                  <a:srgbClr val="1E293B"/>
                </a:solidFill>
              </a:rPr>
              <a:t>Run a recovery review for Training Phase I and the related delivery dependencies.</a:t>
            </a:r>
          </a:p>
        </p:txBody>
      </p:sp>
      <p:sp>
        <p:nvSpPr>
          <p:cNvPr id="12" name="action-number-2">
            <a:extLst xmlns:a="http://schemas.openxmlformats.org/drawingml/2006/main">
              <a:ext uri="{FF2B5EF4-FFF2-40B4-BE49-F238E27FC236}">
                <a16:creationId xmlns:a16="http://schemas.microsoft.com/office/drawing/2014/main" id="{42B8A84D-A9C5-400D-AA2E-D3EAE809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7810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ction-number-text-2">
            <a:extLst xmlns:a="http://schemas.openxmlformats.org/drawingml/2006/main">
              <a:ext uri="{FF2B5EF4-FFF2-40B4-BE49-F238E27FC236}">
                <a16:creationId xmlns:a16="http://schemas.microsoft.com/office/drawing/2014/main" id="{539601F3-3379-4FF0-A526-1DC6A046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81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EF4444"/>
                </a:solidFill>
              </a:defRPr>
            </a:pPr>
            <a:r>
              <a:rPr sz="1950" b="1">
                <a:solidFill>
                  <a:srgbClr val="EF4444"/>
                </a:solidFill>
              </a:rPr>
              <a:t>3</a:t>
            </a:r>
          </a:p>
        </p:txBody>
      </p:sp>
      <p:sp>
        <p:nvSpPr>
          <p:cNvPr id="14" name="action-text-2">
            <a:extLst xmlns:a="http://schemas.openxmlformats.org/drawingml/2006/main">
              <a:ext uri="{FF2B5EF4-FFF2-40B4-BE49-F238E27FC236}">
                <a16:creationId xmlns:a16="http://schemas.microsoft.com/office/drawing/2014/main" id="{27F7618D-E63E-450B-B31D-6F39CABB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910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E293B"/>
                </a:solidFill>
              </a:defRPr>
            </a:pPr>
            <a:r>
              <a:rPr sz="1650">
                <a:solidFill>
                  <a:srgbClr val="1E293B"/>
                </a:solidFill>
              </a:rPr>
              <a:t>Re-baseline the plan only after owners confirm the recovery dates and client dependencies.</a:t>
            </a:r>
          </a:p>
        </p:txBody>
      </p:sp>
      <p:sp>
        <p:nvSpPr>
          <p:cNvPr id="15" name="data-note-card">
            <a:extLst xmlns:a="http://schemas.openxmlformats.org/drawingml/2006/main">
              <a:ext uri="{FF2B5EF4-FFF2-40B4-BE49-F238E27FC236}">
                <a16:creationId xmlns:a16="http://schemas.microsoft.com/office/drawing/2014/main" id="{CCCE55EF-7951-4C69-B9E1-B39FD5AF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820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data-note-label">
            <a:extLst xmlns:a="http://schemas.openxmlformats.org/drawingml/2006/main">
              <a:ext uri="{FF2B5EF4-FFF2-40B4-BE49-F238E27FC236}">
                <a16:creationId xmlns:a16="http://schemas.microsoft.com/office/drawing/2014/main" id="{2B260A7B-C9E4-463C-AE51-D208C4CA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578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F46E5"/>
                </a:solidFill>
              </a:defRPr>
            </a:pPr>
            <a:r>
              <a:rPr sz="1200" b="1">
                <a:solidFill>
                  <a:srgbClr val="4F46E5"/>
                </a:solidFill>
              </a:rPr>
              <a:t>Data note</a:t>
            </a:r>
          </a:p>
        </p:txBody>
      </p:sp>
      <p:sp>
        <p:nvSpPr>
          <p:cNvPr id="17" name="data-note-text">
            <a:extLst xmlns:a="http://schemas.openxmlformats.org/drawingml/2006/main">
              <a:ext uri="{FF2B5EF4-FFF2-40B4-BE49-F238E27FC236}">
                <a16:creationId xmlns:a16="http://schemas.microsoft.com/office/drawing/2014/main" id="{8A64AC89-BAE1-4E8C-B6E4-3ABB47A3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6388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E293B"/>
                </a:solidFill>
              </a:defRPr>
            </a:pPr>
            <a:r>
              <a:rPr sz="1200">
                <a:solidFill>
                  <a:srgbClr val="1E293B"/>
                </a:solidFill>
              </a:rPr>
              <a:t>6 data-quality note(s) were recorded; formula-based summary fields were treated as unavailable and task-level schedule data was used.</a:t>
            </a:r>
          </a:p>
        </p:txBody>
      </p:sp>
    </p:spTree>
    <p:extLst>
      <p:ext uri="{BB962C8B-B14F-4D97-AF65-F5344CB8AC3E}">
        <p14:creationId xmlns:p14="http://schemas.microsoft.com/office/powerpoint/2010/main" val="13146189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2026-07-10T15:52:00.1020000Z</dcterms:created>
  <dcterms:modified xsi:type="dcterms:W3CDTF">2026-07-10T15:52:00.1020000Z</dcterms:modified>
</coreProperties>
</file>