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49808" y="1051560"/>
            <a:ext cx="109728" cy="3977639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1234440"/>
            <a:ext cx="6858000" cy="41148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defRPr sz="1800" b="1">
                <a:solidFill>
                  <a:srgbClr val="A5B4FC"/>
                </a:solidFill>
                <a:latin typeface="Aptos"/>
              </a:defRPr>
            </a:pPr>
            <a:r>
              <a:t>WEEKLY PROJECT HEALTH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1783080"/>
            <a:ext cx="8686800" cy="100584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Aptos"/>
              </a:defRPr>
            </a:pPr>
            <a:r>
              <a:t>Project Plan 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971800"/>
            <a:ext cx="9601200" cy="41148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defRPr sz="1800" b="0">
                <a:solidFill>
                  <a:srgbClr val="CBD5E1"/>
                </a:solidFill>
                <a:latin typeface="Aptos"/>
              </a:defRPr>
            </a:pPr>
            <a:r>
              <a:t>Project Manager: Rajat Bothra  |  Report date: 2026-07-02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43000" y="4023360"/>
            <a:ext cx="2240280" cy="777240"/>
          </a:xfrm>
          <a:prstGeom prst="round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4142232"/>
            <a:ext cx="2240280" cy="41148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>
              <a:defRPr sz="2300" b="1">
                <a:solidFill>
                  <a:srgbClr val="EF4444"/>
                </a:solidFill>
                <a:latin typeface="Aptos"/>
              </a:defRPr>
            </a:pPr>
            <a:r>
              <a:t>RED STATUS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5166360"/>
            <a:ext cx="8869680" cy="41148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defRPr sz="1700" b="0">
                <a:solidFill>
                  <a:srgbClr val="CBD5E1"/>
                </a:solidFill>
                <a:latin typeface="Aptos"/>
              </a:defRPr>
            </a:pPr>
            <a:r>
              <a:t>This deck explains the calculated RAG status and the actions that should follow from it.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5029200" cy="27432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defRPr sz="1400" b="1">
                <a:solidFill>
                  <a:srgbClr val="4F46E5"/>
                </a:solidFill>
                <a:latin typeface="Aptos"/>
              </a:defRPr>
            </a:pPr>
            <a:r>
              <a:t>WEEKLY PROJECT HEALTH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789920" cy="50292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defRPr sz="3200" b="1">
                <a:solidFill>
                  <a:srgbClr val="1E293B"/>
                </a:solidFill>
                <a:latin typeface="Aptos"/>
              </a:defRPr>
            </a:pPr>
            <a:r>
              <a:t>The project is currently in a RED state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61288"/>
            <a:ext cx="10789920" cy="32004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  <a:latin typeface="Aptos"/>
              </a:defRPr>
            </a:pPr>
            <a:r>
              <a:t>Status is based on the current schedule, milestones, blockers, and project-plan data.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72768"/>
            <a:ext cx="10908792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874519"/>
            <a:ext cx="292608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48840"/>
            <a:ext cx="2377440" cy="27432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defRPr sz="1500" b="1">
                <a:solidFill>
                  <a:srgbClr val="64748B"/>
                </a:solidFill>
                <a:latin typeface="Aptos"/>
              </a:defRPr>
            </a:pPr>
            <a:r>
              <a:t>RAG STATUS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42032"/>
            <a:ext cx="2377440" cy="64008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defRPr sz="3800" b="1">
                <a:solidFill>
                  <a:srgbClr val="EF4444"/>
                </a:solidFill>
                <a:latin typeface="Aptos"/>
              </a:defRPr>
            </a:pPr>
            <a:r>
              <a:t>RED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337560"/>
            <a:ext cx="2377440" cy="32004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defRPr sz="1800" b="1">
                <a:solidFill>
                  <a:srgbClr val="1E293B"/>
                </a:solidFill>
                <a:latin typeface="Aptos"/>
              </a:defRPr>
            </a:pPr>
            <a:r>
              <a:t>Calculated score: 56.0%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840480"/>
            <a:ext cx="2377440" cy="141732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defRPr sz="1600" b="0">
                <a:solidFill>
                  <a:srgbClr val="1E293B"/>
                </a:solidFill>
                <a:latin typeface="Aptos"/>
              </a:defRPr>
            </a:pPr>
            <a:r>
              <a:t>Project Plan B is currently at 44% completion with 58.75% time elapsed. The project is 14.75% behind schedule, and the SPI (Schedule P…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86200" y="1874519"/>
            <a:ext cx="224028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69080" y="2103119"/>
            <a:ext cx="1874519" cy="36576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defRPr sz="1500" b="1">
                <a:solidFill>
                  <a:srgbClr val="64748B"/>
                </a:solidFill>
                <a:latin typeface="Aptos"/>
              </a:defRPr>
            </a:pPr>
            <a:r>
              <a:t>Overall progress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69080" y="2624327"/>
            <a:ext cx="1874519" cy="59436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defRPr sz="2600" b="1">
                <a:solidFill>
                  <a:srgbClr val="1E293B"/>
                </a:solidFill>
                <a:latin typeface="Aptos"/>
              </a:defRPr>
            </a:pPr>
            <a:r>
              <a:t>44.0%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28231" y="1874519"/>
            <a:ext cx="224028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11111" y="2103119"/>
            <a:ext cx="1874519" cy="36576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defRPr sz="1500" b="1">
                <a:solidFill>
                  <a:srgbClr val="64748B"/>
                </a:solidFill>
                <a:latin typeface="Aptos"/>
              </a:defRPr>
            </a:pPr>
            <a:r>
              <a:t>Timeline elapsed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11111" y="2624327"/>
            <a:ext cx="1874519" cy="59436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defRPr sz="2600" b="1">
                <a:solidFill>
                  <a:srgbClr val="1E293B"/>
                </a:solidFill>
                <a:latin typeface="Aptos"/>
              </a:defRPr>
            </a:pPr>
            <a:r>
              <a:t>58.8%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70263" y="1874519"/>
            <a:ext cx="224028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53143" y="2103119"/>
            <a:ext cx="1874519" cy="36576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defRPr sz="1500" b="1">
                <a:solidFill>
                  <a:srgbClr val="64748B"/>
                </a:solidFill>
                <a:latin typeface="Aptos"/>
              </a:defRPr>
            </a:pPr>
            <a:r>
              <a:t>Schedule slippage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53143" y="2624327"/>
            <a:ext cx="1874519" cy="59436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defRPr sz="2600" b="1">
                <a:solidFill>
                  <a:srgbClr val="1E293B"/>
                </a:solidFill>
                <a:latin typeface="Aptos"/>
              </a:defRPr>
            </a:pPr>
            <a:r>
              <a:t>14.8%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886200" y="3959352"/>
            <a:ext cx="224028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069080" y="4187952"/>
            <a:ext cx="1874519" cy="36576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defRPr sz="1500" b="1">
                <a:solidFill>
                  <a:srgbClr val="64748B"/>
                </a:solidFill>
                <a:latin typeface="Aptos"/>
              </a:defRPr>
            </a:pPr>
            <a:r>
              <a:t>Active blockers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69080" y="4709160"/>
            <a:ext cx="1874519" cy="59436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defRPr sz="2600" b="1">
                <a:solidFill>
                  <a:srgbClr val="1E293B"/>
                </a:solidFill>
                <a:latin typeface="Aptos"/>
              </a:defRPr>
            </a:pPr>
            <a:r>
              <a:t>42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28231" y="3959352"/>
            <a:ext cx="224028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11111" y="4187952"/>
            <a:ext cx="1874519" cy="36576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defRPr sz="1500" b="1">
                <a:solidFill>
                  <a:srgbClr val="64748B"/>
                </a:solidFill>
                <a:latin typeface="Aptos"/>
              </a:defRPr>
            </a:pPr>
            <a:r>
              <a:t>Overdue milestones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11111" y="4709160"/>
            <a:ext cx="1874519" cy="59436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defRPr sz="2600" b="1">
                <a:solidFill>
                  <a:srgbClr val="1E293B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970263" y="3959352"/>
            <a:ext cx="224028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53143" y="4187952"/>
            <a:ext cx="1874519" cy="36576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defRPr sz="1500" b="1">
                <a:solidFill>
                  <a:srgbClr val="64748B"/>
                </a:solidFill>
                <a:latin typeface="Aptos"/>
              </a:defRPr>
            </a:pPr>
            <a:r>
              <a:t>Project stage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53143" y="4709160"/>
            <a:ext cx="1874519" cy="59436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defRPr sz="2600" b="1">
                <a:solidFill>
                  <a:srgbClr val="1E293B"/>
                </a:solidFill>
                <a:latin typeface="Aptos"/>
              </a:defRPr>
            </a:pPr>
            <a:r>
              <a:t>Training Phase 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473952"/>
            <a:ext cx="7772400" cy="201168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Aptos"/>
              </a:defRPr>
            </a:pPr>
            <a:r>
              <a:t>Zycus Professional Services PMO | Weekly reporting agent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0" y="6473952"/>
            <a:ext cx="1005840" cy="201168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r">
              <a:defRPr sz="1200" b="0">
                <a:solidFill>
                  <a:srgbClr val="64748B"/>
                </a:solidFill>
                <a:latin typeface="Aptos"/>
              </a:defRPr>
            </a:pPr>
            <a:r>
              <a:t>2 / 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5029200" cy="27432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defRPr sz="1400" b="1">
                <a:solidFill>
                  <a:srgbClr val="4F46E5"/>
                </a:solidFill>
                <a:latin typeface="Aptos"/>
              </a:defRPr>
            </a:pPr>
            <a:r>
              <a:t>WEEKLY PROJECT HEALTH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789920" cy="50292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defRPr sz="3200" b="1">
                <a:solidFill>
                  <a:srgbClr val="1E293B"/>
                </a:solidFill>
                <a:latin typeface="Aptos"/>
              </a:defRPr>
            </a:pPr>
            <a:r>
              <a:t>Why this status was assigned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61288"/>
            <a:ext cx="10789920" cy="32004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  <a:latin typeface="Aptos"/>
              </a:defRPr>
            </a:pPr>
            <a:r>
              <a:t>Plain-English reasoning based on schedule, milestones, blockers, and available project-plan signals.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72768"/>
            <a:ext cx="10908792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874519"/>
            <a:ext cx="525780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48840"/>
            <a:ext cx="4480560" cy="32004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defRPr sz="1500" b="1">
                <a:solidFill>
                  <a:srgbClr val="4F46E5"/>
                </a:solidFill>
                <a:latin typeface="Aptos"/>
              </a:defRPr>
            </a:pPr>
            <a:r>
              <a:t>STATUS EXPLANATION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06040"/>
            <a:ext cx="4572000" cy="297180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defRPr sz="1800" b="0">
                <a:solidFill>
                  <a:srgbClr val="1E293B"/>
                </a:solidFill>
                <a:latin typeface="Aptos"/>
              </a:defRPr>
            </a:pPr>
            <a:r>
              <a:t>The calculated RAG status is Red due to the following metrics: - Schedule Slippage: 14.75% - SPI: 74.89% - Overdue Tasks: 25 - Overdue Milestones: 2 - Blockers: 42 - Data Quality Assumptions: The summary sheet cells for Target Start Date, Target End Date, Schedule Delta, and Schedule Variance were unparseable Excel formulas, resulting in empty values.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874519"/>
            <a:ext cx="5376672" cy="4160520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2148840"/>
            <a:ext cx="4389120" cy="32004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defRPr sz="1500" b="1">
                <a:solidFill>
                  <a:srgbClr val="4F46E5"/>
                </a:solidFill>
                <a:latin typeface="Aptos"/>
              </a:defRPr>
            </a:pPr>
            <a:r>
              <a:t>WHAT THIS MEANS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606040"/>
            <a:ext cx="4572000" cy="109728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defRPr sz="2100" b="1">
                <a:solidFill>
                  <a:srgbClr val="1E293B"/>
                </a:solidFill>
                <a:latin typeface="Aptos"/>
              </a:defRPr>
            </a:pPr>
            <a:r>
              <a:t>Escalate the critical blockers and confirm a named owner, decision, and due date.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4343400"/>
            <a:ext cx="4572000" cy="77724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defRPr sz="1700" b="0">
                <a:solidFill>
                  <a:srgbClr val="1E293B"/>
                </a:solidFill>
                <a:latin typeface="Aptos"/>
              </a:defRPr>
            </a:pPr>
            <a:r>
              <a:t>Use the next weekly review to confirm ownership, unblock decisions, and recovery dates.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73952"/>
            <a:ext cx="7772400" cy="201168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Aptos"/>
              </a:defRPr>
            </a:pPr>
            <a:r>
              <a:t>Zycus Professional Services PMO | Weekly reporting agent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73952"/>
            <a:ext cx="1005840" cy="201168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r">
              <a:defRPr sz="1200" b="0">
                <a:solidFill>
                  <a:srgbClr val="64748B"/>
                </a:solidFill>
                <a:latin typeface="Aptos"/>
              </a:defRPr>
            </a:pPr>
            <a:r>
              <a:t>3 /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5029200" cy="27432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defRPr sz="1400" b="1">
                <a:solidFill>
                  <a:srgbClr val="4F46E5"/>
                </a:solidFill>
                <a:latin typeface="Aptos"/>
              </a:defRPr>
            </a:pPr>
            <a:r>
              <a:t>WEEKLY PROJECT HEALTH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789920" cy="50292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defRPr sz="3200" b="1">
                <a:solidFill>
                  <a:srgbClr val="1E293B"/>
                </a:solidFill>
                <a:latin typeface="Aptos"/>
              </a:defRPr>
            </a:pPr>
            <a:r>
              <a:t>Risk drivers and recommended actions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61288"/>
            <a:ext cx="10789920" cy="32004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  <a:latin typeface="Aptos"/>
              </a:defRPr>
            </a:pPr>
            <a:r>
              <a:t>Priorities for the next reporting cycle, with assumptions called out explicitly.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72768"/>
            <a:ext cx="10908792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874519"/>
            <a:ext cx="525780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48840"/>
            <a:ext cx="4480560" cy="32004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defRPr sz="1500" b="1">
                <a:solidFill>
                  <a:srgbClr val="EF4444"/>
                </a:solidFill>
                <a:latin typeface="Aptos"/>
              </a:defRPr>
            </a:pPr>
            <a:r>
              <a:t>TOP RISK DRIVERS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51760"/>
            <a:ext cx="4572000" cy="274320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  <a:latin typeface="Aptos"/>
              </a:defRPr>
            </a:pPr>
            <a:r>
              <a:t>• Blocker: Zycus - UniSan S2P Implementation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  <a:latin typeface="Aptos"/>
              </a:defRPr>
            </a:pPr>
            <a:r>
              <a:t>• Blocker: Training Phase I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  <a:latin typeface="Aptos"/>
              </a:defRPr>
            </a:pPr>
            <a:r>
              <a:t>• Blocker: Train The Trainer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  <a:latin typeface="Aptos"/>
              </a:defRPr>
            </a:pPr>
            <a:r>
              <a:t>• Overdue milestone: Training Phase I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  <a:latin typeface="Aptos"/>
              </a:defRPr>
            </a:pPr>
            <a:r>
              <a:t>• Overdue milestone: Train The Trainer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874519"/>
            <a:ext cx="5376672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2148840"/>
            <a:ext cx="4572000" cy="32004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defRPr sz="1500" b="1">
                <a:solidFill>
                  <a:srgbClr val="4F46E5"/>
                </a:solidFill>
                <a:latin typeface="Aptos"/>
              </a:defRPr>
            </a:pPr>
            <a:r>
              <a:t>RECOMMENDED ACTIONS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651760"/>
            <a:ext cx="4572000" cy="23317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E293B"/>
                </a:solidFill>
                <a:latin typeface="Aptos"/>
              </a:defRPr>
            </a:pPr>
            <a:r>
              <a:t>• Escalate the critical blockers and confirm a named owner, decision, and due date.</a:t>
            </a:r>
          </a:p>
          <a:p>
            <a:pPr>
              <a:spcAft>
                <a:spcPts val="1000"/>
              </a:spcAft>
              <a:defRPr sz="1700">
                <a:solidFill>
                  <a:srgbClr val="1E293B"/>
                </a:solidFill>
                <a:latin typeface="Aptos"/>
              </a:defRPr>
            </a:pPr>
            <a:r>
              <a:t>• Run a recovery review for the overdue milestone and its delivery dependencies.</a:t>
            </a:r>
          </a:p>
          <a:p>
            <a:pPr>
              <a:spcAft>
                <a:spcPts val="1000"/>
              </a:spcAft>
              <a:defRPr sz="1700">
                <a:solidFill>
                  <a:srgbClr val="1E293B"/>
                </a:solidFill>
                <a:latin typeface="Aptos"/>
              </a:defRPr>
            </a:pPr>
            <a:r>
              <a:t>• Re-baseline the plan only after recovery dates and client dependencies are confirmed.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5074920"/>
            <a:ext cx="4389120" cy="27432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defRPr sz="1500" b="1">
                <a:solidFill>
                  <a:srgbClr val="64748B"/>
                </a:solidFill>
                <a:latin typeface="Aptos"/>
              </a:defRPr>
            </a:pPr>
            <a:r>
              <a:t>Data quality and assumptions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5394960"/>
            <a:ext cx="4572000" cy="45720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Aptos"/>
              </a:defRPr>
            </a:pPr>
            <a:r>
              <a:t>The summary sheet cells for Target Start Date, Target End Date, Schedule Delta, and Schedule V…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73952"/>
            <a:ext cx="7772400" cy="201168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Aptos"/>
              </a:defRPr>
            </a:pPr>
            <a:r>
              <a:t>Zycus Professional Services PMO | Weekly reporting agent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473952"/>
            <a:ext cx="1005840" cy="201168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r">
              <a:defRPr sz="1200" b="0">
                <a:solidFill>
                  <a:srgbClr val="64748B"/>
                </a:solidFill>
                <a:latin typeface="Aptos"/>
              </a:defRPr>
            </a:pPr>
            <a:r>
              <a:t>4 /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