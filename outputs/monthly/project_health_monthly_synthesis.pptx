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011680"/>
            <a:ext cx="73152" cy="2560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HEALTH MONTHLY SYNTHESIS</a:t>
            </a:r>
          </a:p>
          <a:p>
            <a:pPr>
              <a:spcAft>
                <a:spcPts val="2800"/>
              </a:spcAft>
              <a:defRPr sz="1800">
                <a:solidFill>
                  <a:srgbClr val="4F46E5"/>
                </a:solidFill>
                <a:latin typeface="Segoe UI"/>
              </a:defRPr>
            </a:pPr>
            <a:r>
              <a:t>Executive Client Delivery &amp; Portfolio Status Dashboard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Report Date: July 2026 Reporting Cycle  |  2 Projects Analyzed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F46E5"/>
                </a:solidFill>
                <a:latin typeface="Segoe UI"/>
              </a:defRPr>
            </a:pPr>
            <a:r>
              <a:t>PORTFOLIO PERFORMANCE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Executive Summary &amp; Portfolio Health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Zycus Professional Services PMO |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4114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4F46E5"/>
                </a:solidFill>
                <a:latin typeface="Segoe UI"/>
              </a:defRPr>
            </a:pPr>
            <a:r>
              <a:t>PORTFOLIO HEALTH SCORES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Green Status (Healthy)</a:t>
            </a:r>
          </a:p>
          <a:p>
            <a:pPr>
              <a:spcAft>
                <a:spcPts val="140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t>0 Projects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Amber Status (Moderate Risk)</a:t>
            </a:r>
          </a:p>
          <a:p>
            <a:pPr>
              <a:spcAft>
                <a:spcPts val="1400"/>
              </a:spcAft>
              <a:defRPr sz="2200" b="1">
                <a:solidFill>
                  <a:srgbClr val="F59E0B"/>
                </a:solidFill>
                <a:latin typeface="Segoe UI"/>
              </a:defRPr>
            </a:pPr>
            <a:r>
              <a:t>1 Project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Red Status (Critical Intervention Required)</a:t>
            </a:r>
          </a:p>
          <a:p>
            <a:pPr>
              <a:spcAft>
                <a:spcPts val="1400"/>
              </a:spcAft>
              <a:defRPr sz="2200" b="1">
                <a:solidFill>
                  <a:srgbClr val="EF4444"/>
                </a:solidFill>
                <a:latin typeface="Segoe UI"/>
              </a:defRPr>
            </a:pPr>
            <a:r>
              <a:t>1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463040"/>
            <a:ext cx="6473952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737360"/>
            <a:ext cx="5943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4F46E5"/>
                </a:solidFill>
                <a:latin typeface="Segoe UI"/>
              </a:defRPr>
            </a:pPr>
            <a:r>
              <a:t>PORTFOLIO LEADERSHIP TAKEAWAYS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1 of 2 projects are behind schedule. Project Plan B has the largest schedule variance at 14.8%.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The portfolio contains 73 active blockers and 10 overdue milestones requiring delivery follow-up.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Input quality needs attention: 12 data-quality notes were recorded across the analyzed plans.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Current portfolio distribution is Red: 1, Amber: 1, Green: 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F46E5"/>
                </a:solidFill>
                <a:latin typeface="Segoe UI"/>
              </a:defRPr>
            </a:pPr>
            <a:r>
              <a:t>PORTFOLIO PERFORMANCE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Portfolio Status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Zycus Professional Services PMO |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45920"/>
          <a:ext cx="108173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097280"/>
                <a:gridCol w="1188720"/>
                <a:gridCol w="1645920"/>
                <a:gridCol w="3227832"/>
              </a:tblGrid>
              <a:tr h="137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Project Name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Project Manager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RAG Status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% Complete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Schedule Health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Risk / Blocker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PROJECT PLAN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Rajat Bothra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Slippage: 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Zycus - UniSan S2P 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S2P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Aftab Hashambhai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Slippage: -14.1%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Configuration and Build phase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F46E5"/>
                </a:solidFill>
                <a:latin typeface="Segoe UI"/>
              </a:defRPr>
            </a:pPr>
            <a:r>
              <a:t>PORTFOLIO PERFORMANCE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Schedule and Milestone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Zycus Professional Services PMO |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51206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PROJECT PLAN B PROGRESS DETAIL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● **Completion Progress**: 44.0% physical complete vs 58.8% elapsed timeline.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● **Overdue Milestones**: 2 overdue milestones logged in the active schedule.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● **Tasks In Progress**: 42 subtasks in active development.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● **Tasks Not Started**: 192 subtasks queued for subsequent phases.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● **On Hold Tasks**: 0 tasks flagged as on-hold.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63040"/>
            <a:ext cx="512064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011680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S2P PROJECT PROGRESS DETAIL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● **Completion Progress**: 71.0% physical complete vs 56.9% elapsed timeline.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● **Overdue Milestones**: 8 overdue milestones logged in the active schedule.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● **Tasks In Progress**: 22 subtasks in active development.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● **Tasks Not Started**: 197 subtasks queued for subsequent phases.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● **On Hold Tasks**: 3 tasks flagged as on-hold.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F46E5"/>
                </a:solidFill>
                <a:latin typeface="Segoe UI"/>
              </a:defRPr>
            </a:pPr>
            <a:r>
              <a:t>PORTFOLIO PERFORMANCE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Emerging Portfolio Risks &amp; Blocker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Zycus Professional Services PMO |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572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4F46E5"/>
                </a:solidFill>
                <a:latin typeface="Segoe UI"/>
              </a:defRPr>
            </a:pPr>
            <a:r>
              <a:t>THEME 1: DELIVERY EXECUTION PRESSURE</a:t>
            </a:r>
          </a:p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  <a:latin typeface="Segoe UI"/>
              </a:defRPr>
            </a:pPr>
            <a:r>
              <a:t>Active blockers are concentrated in Project Plan B (42), S2P Project (31).</a:t>
            </a:r>
            <a:br/>
            <a:r>
              <a:t>Overdue milestones are concentrated in S2P Project (8), Project Plan B (2).</a:t>
            </a:r>
            <a:br/>
            <a:r>
              <a:t>These items should drive the next PMO review and recovery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46304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737360"/>
            <a:ext cx="4572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4F46E5"/>
                </a:solidFill>
                <a:latin typeface="Segoe UI"/>
              </a:defRPr>
            </a:pPr>
            <a:r>
              <a:t>THEME 2: REPORTING AND STAKEHOLDER SIGNALS</a:t>
            </a:r>
          </a:p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  <a:latin typeface="Segoe UI"/>
              </a:defRPr>
            </a:pPr>
            <a:r>
              <a:t>The plans contain 5 negative comment signal(s) and 12 data-quality warning(s).</a:t>
            </a:r>
            <a:br/>
            <a:r>
              <a:t>Validate owners, dates, statuses, and client dependencies before the next reporting cycle.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F46E5"/>
                </a:solidFill>
                <a:latin typeface="Segoe UI"/>
              </a:defRPr>
            </a:pPr>
            <a:r>
              <a:t>PORTFOLIO PERFORMANCE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Strategic PMO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Zycus Professional Services PMO |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3291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3291840" cy="7315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ACTION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2834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E293B"/>
                </a:solidFill>
                <a:latin typeface="Segoe UI"/>
              </a:defRPr>
            </a:pPr>
            <a:r>
              <a:t>CONTAIN THE LARGEST BLOCKER CLUSTER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Segoe UI"/>
              </a:defRPr>
            </a:pPr>
            <a:r>
              <a:t>Run a focused recovery session for Project Plan B (42 active blockers), with an owner and target date for each critical item.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463040"/>
            <a:ext cx="3291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291840" cy="7315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00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ACTION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77440"/>
            <a:ext cx="2834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E293B"/>
                </a:solidFill>
                <a:latin typeface="Segoe UI"/>
              </a:defRPr>
            </a:pPr>
            <a:r>
              <a:t>RECOVER OVERDUE MILESTONES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Segoe UI"/>
              </a:defRPr>
            </a:pPr>
            <a:r>
              <a:t>Rebaseline the overdue milestone path for S2P Project (8 overdue milestones) and escalate dependencies that cannot be resolved this week.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463040"/>
            <a:ext cx="3291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463040"/>
            <a:ext cx="3291840" cy="7315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600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ACTION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2834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E293B"/>
                </a:solidFill>
                <a:latin typeface="Segoe UI"/>
              </a:defRPr>
            </a:pPr>
            <a:r>
              <a:t>IMPROVE INPUT QUALITY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Segoe UI"/>
              </a:defRPr>
            </a:pPr>
            <a:r>
              <a:t>Close 12 data-quality warning(s) before the next cycle so leadership decisions are based on complete dates, statuses, and comments.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011680"/>
            <a:ext cx="73152" cy="2560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NEXT STEPS &amp; ROADMAP TO GREEN</a:t>
            </a:r>
          </a:p>
          <a:p>
            <a:pPr>
              <a:spcAft>
                <a:spcPts val="600"/>
              </a:spcAft>
              <a:defRPr sz="1600">
                <a:solidFill>
                  <a:srgbClr val="4F46E5"/>
                </a:solidFill>
                <a:latin typeface="Segoe UI"/>
              </a:defRPr>
            </a:pPr>
            <a:r>
              <a:t>1. Initiate Weekly Monitoring Cadence using the Reporting Agent</a:t>
            </a:r>
          </a:p>
          <a:p>
            <a:pPr>
              <a:spcAft>
                <a:spcPts val="600"/>
              </a:spcAft>
              <a:defRPr sz="1600">
                <a:solidFill>
                  <a:srgbClr val="4F46E5"/>
                </a:solidFill>
                <a:latin typeface="Segoe UI"/>
              </a:defRPr>
            </a:pPr>
            <a:r>
              <a:t>2. Conduct Data Completeness audits on incoming sheets (ensure baseline start/finish columns)</a:t>
            </a:r>
          </a:p>
          <a:p>
            <a:pPr>
              <a:spcAft>
                <a:spcPts val="2000"/>
              </a:spcAft>
              <a:defRPr sz="1600">
                <a:solidFill>
                  <a:srgbClr val="4F46E5"/>
                </a:solidFill>
                <a:latin typeface="Segoe UI"/>
              </a:defRPr>
            </a:pPr>
            <a:r>
              <a:t>3. Review the recovery plan for Project Plan B (42 active blockers)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Source: Current weekly project health reports | Prepared for PMO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